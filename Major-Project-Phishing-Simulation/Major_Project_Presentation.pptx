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309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 Simulation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Social Engineering Techniques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9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Project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Ltd.  |  Cybersecurity Internship  |  August 2026</a:t>
            </a:r>
            <a:endParaRPr lang="en-US" sz="14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02B69201-65D5-3A44-9F51-E526BAB0FA84}"/>
              </a:ext>
            </a:extLst>
          </p:cNvPr>
          <p:cNvSpPr/>
          <p:nvPr/>
        </p:nvSpPr>
        <p:spPr>
          <a:xfrm>
            <a:off x="825909" y="4389120"/>
            <a:ext cx="9301317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dirty="0">
                <a:solidFill>
                  <a:schemeClr val="bg1"/>
                </a:solidFill>
              </a:rPr>
              <a:t>Name: Ayush Kumar Srivastava</a:t>
            </a:r>
          </a:p>
          <a:p>
            <a:r>
              <a:rPr lang="en-IN" sz="2000" dirty="0">
                <a:solidFill>
                  <a:schemeClr val="bg1"/>
                </a:solidFill>
              </a:rPr>
              <a:t>University Roll No.: 2500560100071 </a:t>
            </a:r>
          </a:p>
          <a:p>
            <a:r>
              <a:rPr lang="en-IN" sz="2000" dirty="0">
                <a:solidFill>
                  <a:schemeClr val="bg1"/>
                </a:solidFill>
              </a:rPr>
              <a:t>College: Babu Banarasi Das Northern India Institute of Technology, Lucknow             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424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Phishing: The #1 Attack Vector
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90% of data breaches worldwide
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Exploits human psychology — trust, urgency, curiosity — not just technology
</a:t>
            </a:r>
            <a:endParaRPr lang="en-US" sz="18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How do we measure and improve employee awareness in a real-world setting?
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Controlled, ethical simulation with informed consent — educate, don't punish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05840" y="1709928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05840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55448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phishing techniques &amp; social engineering tactics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05840" y="2624328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0584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246888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 ethical, consented phishing simulation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38328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05840" y="3538728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05840" y="3538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338328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user behavior: clicks, credential submission, reporting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29768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005840" y="4453128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05840" y="4453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429768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high-risk departments for targeted training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521208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005840" y="5367528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05840" y="5367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521208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evidence-based recommendations to reduce phishing risk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Phishing Techniques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148840" cy="475488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Harvesting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926080"/>
            <a:ext cx="1874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login page mimics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 service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1463040"/>
            <a:ext cx="2148840" cy="4754880"/>
          </a:xfrm>
          <a:prstGeom prst="rect">
            <a:avLst/>
          </a:prstGeom>
          <a:solidFill>
            <a:srgbClr val="E6B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971800" y="169164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Scarcity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71800" y="2926080"/>
            <a:ext cx="1874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Time-pressure tactics: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Now!"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1463040"/>
            <a:ext cx="2148840" cy="475488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257800" y="169164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Fraud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57800" y="2926080"/>
            <a:ext cx="1874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impersonates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06640" y="1463040"/>
            <a:ext cx="2148840" cy="475488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543800" y="169164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43800" y="2926080"/>
            <a:ext cx="1874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contains hidden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92640" y="1463040"/>
            <a:ext cx="2148840" cy="475488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829800" y="169164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Spoofing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29800" y="2926080"/>
            <a:ext cx="1874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looks like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company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Ethics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03520" cy="512064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Explicit written informed consent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Clear labeling: "Training Exercise"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real sensitive data collected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Internal test group only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Immediate follow-up training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Anonymous aggregate reporting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280160"/>
            <a:ext cx="5303520" cy="5120640"/>
          </a:xfrm>
          <a:prstGeom prst="rect">
            <a:avLst/>
          </a:prstGeom>
          <a:solidFill>
            <a:srgbClr val="2233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46520" y="1463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0" y="196596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0: Consent forms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1: Phishing email sent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2-7: Monitor responses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8: Reveal + training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9-10: Remedial training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Template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731520"/>
          </a:xfrm>
          <a:prstGeom prst="rect">
            <a:avLst/>
          </a:prstGeom>
          <a:solidFill>
            <a:srgbClr val="F4F6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support@company-internal.test  |  Subject: "Action Required: Password Expiration (24h)"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Form styled as login portal (professional mockup)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Requests: username + password (test credentials only)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Shows "Verification successful" → redirects to real portal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Logs all submissions anonymously (timestamp, IP, form data)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Summary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5029200" cy="36576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3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 (%)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3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Participants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Emails Opened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 (90.5%)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Links Clicked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(66.7%)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Credential Submission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(42.9%)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to 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CB8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(9.5%)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943600" y="109728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Risk Analysis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943600" y="1737360"/>
            <a:ext cx="228600" cy="502920"/>
          </a:xfrm>
          <a:prstGeom prst="rect">
            <a:avLst/>
          </a:prstGeom>
          <a:solidFill>
            <a:srgbClr val="5CB8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309360" y="1737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63840" y="1737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clicks → HIGH AWARENESS</a:t>
            </a:r>
            <a:endParaRPr lang="en-US" sz="1100" dirty="0"/>
          </a:p>
        </p:txBody>
      </p:sp>
      <p:sp>
        <p:nvSpPr>
          <p:cNvPr id="3" name="Shape 5"/>
          <p:cNvSpPr/>
          <p:nvPr/>
        </p:nvSpPr>
        <p:spPr>
          <a:xfrm>
            <a:off x="5943600" y="2377440"/>
            <a:ext cx="228600" cy="502920"/>
          </a:xfrm>
          <a:prstGeom prst="rect">
            <a:avLst/>
          </a:prstGeom>
          <a:solidFill>
            <a:srgbClr val="5CB8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309360" y="2377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IT/Security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63840" y="23774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clicks → EXCELLENT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3017520"/>
            <a:ext cx="228600" cy="502920"/>
          </a:xfrm>
          <a:prstGeom prst="rect">
            <a:avLst/>
          </a:prstGeom>
          <a:solidFill>
            <a:srgbClr val="E6B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309360" y="3017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863840" y="3017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clicks → MODERATE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0" y="3657600"/>
            <a:ext cx="228600" cy="50292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309360" y="3657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863840" y="36576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 clicks → HIGH RISK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43600" y="4297680"/>
            <a:ext cx="228600" cy="50292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309360" y="4297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863840" y="4297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clicks → CRITICAL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254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51560" y="1874520"/>
            <a:ext cx="457200" cy="457200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515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91640" y="164592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framing ("24 hours", "Action Required") drives clicks → 90.5% open rate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25400">
            <a:solidFill>
              <a:srgbClr val="E6B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51560" y="2926080"/>
            <a:ext cx="457200" cy="457200"/>
          </a:xfrm>
          <a:prstGeom prst="ellipse">
            <a:avLst/>
          </a:prstGeom>
          <a:solidFill>
            <a:srgbClr val="E6B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5156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91640" y="269748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users recognize danger at landing page → only 42.9% attempt submission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7490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25400">
            <a:solidFill>
              <a:srgbClr val="5CB8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51560" y="3977640"/>
            <a:ext cx="457200" cy="457200"/>
          </a:xfrm>
          <a:prstGeom prst="ellipse">
            <a:avLst/>
          </a:prstGeom>
          <a:solidFill>
            <a:srgbClr val="5CB8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515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91640" y="374904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champions exist (9.5%) who proactively report → nurture &amp; reward them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25400">
            <a:solidFill>
              <a:srgbClr val="5CB8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051560" y="5029200"/>
            <a:ext cx="457200" cy="457200"/>
          </a:xfrm>
          <a:prstGeom prst="ellipse">
            <a:avLst/>
          </a:prstGeom>
          <a:solidFill>
            <a:srgbClr val="5CB8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5156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91640" y="480060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2FA would have neutralized all 18 credential submissions (100% protection)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585216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25400">
            <a:solidFill>
              <a:srgbClr val="E6B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051560" y="6080760"/>
            <a:ext cx="457200" cy="457200"/>
          </a:xfrm>
          <a:prstGeom prst="ellipse">
            <a:avLst/>
          </a:prstGeom>
          <a:solidFill>
            <a:srgbClr val="E6B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51560" y="6080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585216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 degrades without reinforcement → quarterly sims needed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Preventive Measures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66160" cy="4846320"/>
          </a:xfrm>
          <a:prstGeom prst="rect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 SPF/DKIM/DMARC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content filtering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4754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 MFA enterprise-wide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371600"/>
            <a:ext cx="3566160" cy="4846320"/>
          </a:xfrm>
          <a:prstGeom prst="rect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17720" y="1554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286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Department-targeted training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35204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Monthly simulations (Sales/Operations)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4754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reporting culture (no shame)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3566160" cy="4846320"/>
          </a:xfrm>
          <a:prstGeom prst="rect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12480" y="1554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2286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Reward security champions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58200" y="35204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Remove punitive approach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58200" y="4754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Make reporting easy &amp; safe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is human-centered: technical controls alone are insufficient.
</a:t>
            </a:r>
            <a:endParaRPr lang="en-US" sz="17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simulations with informed consent are powerful for measuring awareness and driving behavioral change.
</a:t>
            </a:r>
            <a:endParaRPr lang="en-US" sz="17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defense: MFA + ongoing training + positive security culture.
</a:t>
            </a:r>
            <a:endParaRPr lang="en-US" sz="17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must invest continuously, not as a checkbox.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5394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Ltd. — Cybersecurity Internship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676</Words>
  <Application>Microsoft Office PowerPoint</Application>
  <PresentationFormat>Widescreen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Ayush Kumar Srivastava</cp:lastModifiedBy>
  <cp:revision>2</cp:revision>
  <dcterms:created xsi:type="dcterms:W3CDTF">2026-08-04T04:55:15Z</dcterms:created>
  <dcterms:modified xsi:type="dcterms:W3CDTF">2026-08-07T16:36:21Z</dcterms:modified>
</cp:coreProperties>
</file>